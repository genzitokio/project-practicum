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Кейс 1. Прогнозирование оттока клиентов банка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Выполнил: Видякин Николай Николаевич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Цели и задачи</a:t>
            </a:r>
          </a:p>
          <a:p>
            <a:pPr>
              <a:spcAft>
                <a:spcPts val="800"/>
              </a:spcAft>
              <a:defRPr sz="1600"/>
            </a:pPr>
            <a:r>
              <a:t>Фичи</a:t>
            </a:r>
          </a:p>
          <a:p>
            <a:pPr>
              <a:spcAft>
                <a:spcPts val="800"/>
              </a:spcAft>
              <a:defRPr sz="1600"/>
            </a:pPr>
            <a:r>
              <a:t>Выбросы и распределения</a:t>
            </a:r>
          </a:p>
          <a:p>
            <a:pPr>
              <a:spcAft>
                <a:spcPts val="800"/>
              </a:spcAft>
              <a:defRPr sz="1600"/>
            </a:pPr>
            <a:r>
              <a:t>Мультиколлинеарность</a:t>
            </a:r>
          </a:p>
          <a:p>
            <a:pPr>
              <a:spcAft>
                <a:spcPts val="800"/>
              </a:spcAft>
              <a:defRPr sz="1600"/>
            </a:pPr>
            <a:r>
              <a:t>Предикторы и таргет</a:t>
            </a:r>
          </a:p>
          <a:p>
            <a:pPr>
              <a:spcAft>
                <a:spcPts val="800"/>
              </a:spcAft>
              <a:defRPr sz="1600"/>
            </a:pPr>
            <a:r>
              <a:t>Баланс классов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Итоги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Выбор ключевой метрики</a:t>
            </a:r>
          </a:p>
          <a:p>
            <a:pPr>
              <a:spcAft>
                <a:spcPts val="800"/>
              </a:spcAft>
              <a:defRPr sz="1600"/>
            </a:pPr>
            <a:r>
              <a:t>Бейзлайн</a:t>
            </a:r>
          </a:p>
          <a:p>
            <a:pPr>
              <a:spcAft>
                <a:spcPts val="800"/>
              </a:spcAft>
              <a:defRPr sz="1600"/>
            </a:pPr>
            <a:r>
              <a:t>Обучение моделей</a:t>
            </a:r>
          </a:p>
          <a:p>
            <a:pPr>
              <a:spcAft>
                <a:spcPts val="800"/>
              </a:spcAft>
              <a:defRPr sz="1600"/>
            </a:pPr>
            <a:r>
              <a:t>Итоговая модель</a:t>
            </a:r>
          </a:p>
          <a:p>
            <a:pPr>
              <a:spcAft>
                <a:spcPts val="800"/>
              </a:spcAft>
              <a:defRPr sz="1600"/>
            </a:pPr>
            <a:r>
              <a:t>Важность фичей</a:t>
            </a:r>
          </a:p>
          <a:p>
            <a:pPr>
              <a:spcAft>
                <a:spcPts val="800"/>
              </a:spcAft>
              <a:defRPr sz="1600"/>
            </a:pPr>
            <a:r>
              <a:t>Итоговые метрики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Цели и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Цель – научиться распознавать клиентов, которые могут уйти из банка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Датасет: Credit Card Customers</a:t>
            </a:r>
          </a:p>
          <a:p>
            <a:pPr>
              <a:spcAft>
                <a:spcPts val="1000"/>
              </a:spcAft>
              <a:defRPr sz="1800"/>
            </a:pPr>
            <a:r>
              <a:t>https://www.kaggle.com/datasets/whenamancodes/credit-card-customers-prediction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Задача – построить модель бинарной классификации</a:t>
            </a:r>
          </a:p>
          <a:p>
            <a:pPr>
              <a:spcAft>
                <a:spcPts val="1000"/>
              </a:spcAft>
              <a:defRPr sz="1800"/>
            </a:pPr>
            <a:r>
              <a:t>для прогнозирования оттока клиентов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Фичи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Датасет: 10 127 строк и 23 столбца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 таргет (Attrition_Flag)</a:t>
            </a:r>
          </a:p>
          <a:p>
            <a:pPr>
              <a:spcAft>
                <a:spcPts val="1000"/>
              </a:spcAft>
              <a:defRPr sz="1800"/>
            </a:pPr>
            <a:r>
              <a:t>1 ID колонка (CLIENTNUM) – удалили</a:t>
            </a:r>
          </a:p>
          <a:p>
            <a:pPr>
              <a:spcAft>
                <a:spcPts val="1000"/>
              </a:spcAft>
              <a:defRPr sz="1800"/>
            </a:pPr>
            <a:r>
              <a:t>2 служебных столбца Kaggle (Naive_Bayes_*) – тоже удалили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 категориальных фич:</a:t>
            </a:r>
          </a:p>
          <a:p>
            <a:pPr>
              <a:spcAft>
                <a:spcPts val="1000"/>
              </a:spcAft>
              <a:defRPr sz="1800"/>
            </a:pPr>
            <a:r>
              <a:t>Gender, Education_Level, Marital_Status, Income_Category, Card_Category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14 числовых фич:</a:t>
            </a:r>
          </a:p>
          <a:p>
            <a:pPr>
              <a:spcAft>
                <a:spcPts val="1000"/>
              </a:spcAft>
              <a:defRPr sz="1800"/>
            </a:pPr>
            <a:r>
              <a:t>Customer_Age, Credit_Limit, Total_Trans_Amt, Total_Trans_Ct и др.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Выбросы и распределения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Выбросы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Customer_Age – небольшие выбросы</a:t>
            </a:r>
          </a:p>
          <a:p>
            <a:pPr>
              <a:spcAft>
                <a:spcPts val="800"/>
              </a:spcAft>
              <a:defRPr sz="1600"/>
            </a:pPr>
            <a:r>
              <a:t>Credit_Limit – выбросы сверху</a:t>
            </a:r>
          </a:p>
          <a:p>
            <a:pPr>
              <a:spcAft>
                <a:spcPts val="800"/>
              </a:spcAft>
              <a:defRPr sz="1600"/>
            </a:pPr>
            <a:r>
              <a:t>Total_Trans_Amt – есть выбросы</a:t>
            </a:r>
          </a:p>
          <a:p>
            <a:pPr>
              <a:spcAft>
                <a:spcPts val="800"/>
              </a:spcAft>
              <a:defRPr sz="1600"/>
            </a:pPr>
            <a:r>
              <a:t>Total_Revolving_Bal – тоже есть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Удалять не стали, могут быть</a:t>
            </a:r>
          </a:p>
          <a:p>
            <a:pPr>
              <a:spcAft>
                <a:spcPts val="800"/>
              </a:spcAft>
              <a:defRPr sz="1600"/>
            </a:pPr>
            <a:r>
              <a:t>полезны для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Распределения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Customer_Age – почти нормальное</a:t>
            </a:r>
          </a:p>
          <a:p>
            <a:pPr>
              <a:spcAft>
                <a:spcPts val="800"/>
              </a:spcAft>
              <a:defRPr sz="1600"/>
            </a:pPr>
            <a:r>
              <a:t>Credit_Limit – скошено вправо</a:t>
            </a:r>
          </a:p>
          <a:p>
            <a:pPr>
              <a:spcAft>
                <a:spcPts val="800"/>
              </a:spcAft>
              <a:defRPr sz="1600"/>
            </a:pPr>
            <a:r>
              <a:t>Total_Trans_Ct – два пика</a:t>
            </a:r>
          </a:p>
          <a:p>
            <a:pPr>
              <a:spcAft>
                <a:spcPts val="800"/>
              </a:spcAft>
              <a:defRPr sz="1600"/>
            </a:pPr>
            <a:r>
              <a:t>Total_Trans_Amt – правый хвост</a:t>
            </a:r>
          </a:p>
          <a:p>
            <a:pPr>
              <a:spcAft>
                <a:spcPts val="800"/>
              </a:spcAft>
              <a:defRPr sz="1600"/>
            </a:pPr>
            <a:r>
              <a:t>Avg_Utilization_Ratio – много нулей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Мультиколлинеарность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Посмотрели корреляции между признаками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Сильные корреляции: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Credit_Limit ↔ Avg_Open_To_Buy: 0.99 (почти одно и то же)</a:t>
            </a:r>
          </a:p>
          <a:p>
            <a:pPr>
              <a:spcAft>
                <a:spcPts val="1000"/>
              </a:spcAft>
              <a:defRPr sz="1800"/>
            </a:pPr>
            <a:r>
              <a:t>Customer_Age ↔ Months_on_book: 0.79</a:t>
            </a:r>
          </a:p>
          <a:p>
            <a:pPr>
              <a:spcAft>
                <a:spcPts val="1000"/>
              </a:spcAft>
              <a:defRPr sz="1800"/>
            </a:pPr>
            <a:r>
              <a:t>Total_Trans_Amt ↔ Total_Trans_Ct: 0.81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Для Random Forest это не критично, оставили как есть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Предикторы и таргет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Какие фичи больше всего связаны с оттоком: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Total_Trans_Ct – количество транзакций</a:t>
            </a:r>
          </a:p>
          <a:p>
            <a:pPr>
              <a:spcAft>
                <a:spcPts val="1000"/>
              </a:spcAft>
              <a:defRPr sz="1800"/>
            </a:pPr>
            <a:r>
              <a:t>• Total_Trans_Amt – сумма транзакций</a:t>
            </a:r>
          </a:p>
          <a:p>
            <a:pPr>
              <a:spcAft>
                <a:spcPts val="1000"/>
              </a:spcAft>
              <a:defRPr sz="1800"/>
            </a:pPr>
            <a:r>
              <a:t>• Total_Revolving_Bal – остаток на счёте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Логично: если клиент мало пользуется картой,</a:t>
            </a:r>
          </a:p>
          <a:p>
            <a:pPr>
              <a:spcAft>
                <a:spcPts val="1000"/>
              </a:spcAft>
              <a:defRPr sz="1800"/>
            </a:pPr>
            <a:r>
              <a:t>он скорее всего уйдёт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Баланс классов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Existing Customer (остался): 8500 чел. (84%)</a:t>
            </a:r>
          </a:p>
          <a:p>
            <a:pPr>
              <a:spcAft>
                <a:spcPts val="1000"/>
              </a:spcAft>
              <a:defRPr sz="1800"/>
            </a:pPr>
            <a:r>
              <a:t>Attrited Customer (ушёл): 1627 чел. (16%)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Соотношение примерно 1 к 5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Дисбаланс есть, но умеренный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Решение: class_weight='balanced' в моделях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Итоги EDA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Что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Действие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CLIENTNUM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Удалили (ID)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Naive_Bayes_*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Удалили (служебные)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Attrition_Flag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Перевели в 0/1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Категориальные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LabelEncoder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Числовые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StandardScaler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Дисбаланс 16/84%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class_weight='balanced'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Выбор ключевой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Выбрали Recall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Почему:</a:t>
            </a:r>
          </a:p>
          <a:p>
            <a:pPr>
              <a:spcAft>
                <a:spcPts val="1000"/>
              </a:spcAft>
              <a:defRPr sz="1800"/>
            </a:pPr>
            <a:r>
              <a:t>• Пропустить отточного клиента – потеря денег</a:t>
            </a:r>
          </a:p>
          <a:p>
            <a:pPr>
              <a:spcAft>
                <a:spcPts val="1000"/>
              </a:spcAft>
              <a:defRPr sz="1800"/>
            </a:pPr>
            <a:r>
              <a:t>• Лишний раз позвонить лояльному – ну ок, не страшно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Лучше перебдеть, чем недобдеть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Поэтому максимизируем Recall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Бейзлайн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Для начала взяли логистическую регрессию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Параметры:</a:t>
            </a:r>
          </a:p>
          <a:p>
            <a:pPr>
              <a:spcAft>
                <a:spcPts val="1000"/>
              </a:spcAft>
              <a:defRPr sz="1800"/>
            </a:pPr>
            <a:r>
              <a:t>• class_weight='balanced'</a:t>
            </a:r>
          </a:p>
          <a:p>
            <a:pPr>
              <a:spcAft>
                <a:spcPts val="1000"/>
              </a:spcAft>
              <a:defRPr sz="1800"/>
            </a:pPr>
            <a:r>
              <a:t>• max_iter=1000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Результат на тесте:</a:t>
            </a:r>
          </a:p>
          <a:p>
            <a:pPr>
              <a:spcAft>
                <a:spcPts val="1000"/>
              </a:spcAft>
              <a:defRPr sz="1800"/>
            </a:pPr>
            <a:r>
              <a:t>Recall = 0.81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Неплохо для бейзлайна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Обучение моделей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Дальше попробовали Random Forest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Подбирали гиперпараметры через GridSearchCV:</a:t>
            </a:r>
          </a:p>
          <a:p>
            <a:pPr>
              <a:spcAft>
                <a:spcPts val="1000"/>
              </a:spcAft>
              <a:defRPr sz="1800"/>
            </a:pPr>
            <a:r>
              <a:t>• n_estimators: 50, 100, 200</a:t>
            </a:r>
          </a:p>
          <a:p>
            <a:pPr>
              <a:spcAft>
                <a:spcPts val="1000"/>
              </a:spcAft>
              <a:defRPr sz="1800"/>
            </a:pPr>
            <a:r>
              <a:t>• max_depth: 5, 10, 15, None</a:t>
            </a:r>
          </a:p>
          <a:p>
            <a:pPr>
              <a:spcAft>
                <a:spcPts val="1000"/>
              </a:spcAft>
              <a:defRPr sz="1800"/>
            </a:pPr>
            <a:r>
              <a:t>• min_samples_split: 2, 5, 10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Оптимизировали по Recall</a:t>
            </a:r>
          </a:p>
          <a:p>
            <a:pPr>
              <a:spcAft>
                <a:spcPts val="1000"/>
              </a:spcAft>
              <a:defRPr sz="1800"/>
            </a:pPr>
            <a:r>
              <a:t>Кросс-валидация: StratifiedKFold, 3 фолда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Итоговая модель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LogReg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RF после тюнинга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Лучший Recall у Random Forest после подбора параметров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Важность фичей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Топ-5 по feature_importances_: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Total_Trans_Ct – 0.24</a:t>
            </a:r>
          </a:p>
          <a:p>
            <a:pPr>
              <a:spcAft>
                <a:spcPts val="1000"/>
              </a:spcAft>
              <a:defRPr sz="1800"/>
            </a:pPr>
            <a:r>
              <a:t>2. Total_Trans_Amt – 0.23</a:t>
            </a:r>
          </a:p>
          <a:p>
            <a:pPr>
              <a:spcAft>
                <a:spcPts val="1000"/>
              </a:spcAft>
              <a:defRPr sz="1800"/>
            </a:pPr>
            <a:r>
              <a:t>3. Total_Revolving_Bal – 0.15</a:t>
            </a:r>
          </a:p>
          <a:p>
            <a:pPr>
              <a:spcAft>
                <a:spcPts val="1000"/>
              </a:spcAft>
              <a:defRPr sz="1800"/>
            </a:pPr>
            <a:r>
              <a:t>4. Total_Ct_Chng_Q4_Q1 – 0.08</a:t>
            </a:r>
          </a:p>
          <a:p>
            <a:pPr>
              <a:spcAft>
                <a:spcPts val="1000"/>
              </a:spcAft>
              <a:defRPr sz="1800"/>
            </a:pPr>
            <a:r>
              <a:t>5. Total_Amt_Chng_Q4_Q1 – 0.06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Транзакционная активность – главный индикатор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Итоговые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Лучшая модель: Random Forest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Параметры: n_estimators=200, max_depth=5, min_samples_split=5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Метрики на тесте:</a:t>
            </a:r>
          </a:p>
          <a:p>
            <a:pPr>
              <a:spcAft>
                <a:spcPts val="1000"/>
              </a:spcAft>
              <a:defRPr sz="1800"/>
            </a:pPr>
            <a:r>
              <a:t>• Recall: 0.87 – находим 87% отточных</a:t>
            </a:r>
          </a:p>
          <a:p>
            <a:pPr>
              <a:spcAft>
                <a:spcPts val="1000"/>
              </a:spcAft>
              <a:defRPr sz="1800"/>
            </a:pPr>
            <a:r>
              <a:t>• F1: 0.76</a:t>
            </a:r>
          </a:p>
          <a:p>
            <a:pPr>
              <a:spcAft>
                <a:spcPts val="1000"/>
              </a:spcAft>
              <a:defRPr sz="1800"/>
            </a:pPr>
            <a:r>
              <a:t>• Accuracy: 0.91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Модель готова к использованию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